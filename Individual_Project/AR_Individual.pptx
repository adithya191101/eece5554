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D584BC-067F-C101-20B0-43D1B23FF2DE}" v="1292" dt="2024-11-07T03:55:48.665"/>
    <p1510:client id="{EA5F5D12-1249-4AFC-16D9-D7740995F526}" v="29" dt="2024-11-07T01:05:15.7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E0BA85-BD75-4D5B-B46F-D9E4F97D1A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BF13D1-64F9-4615-BEDC-B28F3FF334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Estimated Total Power Consumption and Operating Time for 8 Hours</a:t>
          </a:r>
          <a:endParaRPr lang="en-US" dirty="0"/>
        </a:p>
      </dgm:t>
    </dgm:pt>
    <dgm:pt modelId="{5C230540-7F08-444F-B1AC-BD6C3A782D11}" type="parTrans" cxnId="{704229BB-18EC-4A6F-8F8D-1F4CAFBCE0E8}">
      <dgm:prSet/>
      <dgm:spPr/>
      <dgm:t>
        <a:bodyPr/>
        <a:lstStyle/>
        <a:p>
          <a:endParaRPr lang="en-US"/>
        </a:p>
      </dgm:t>
    </dgm:pt>
    <dgm:pt modelId="{109EE7FE-07CF-47B8-A1E8-25F71FF3C85F}" type="sibTrans" cxnId="{704229BB-18EC-4A6F-8F8D-1F4CAFBCE0E8}">
      <dgm:prSet/>
      <dgm:spPr/>
      <dgm:t>
        <a:bodyPr/>
        <a:lstStyle/>
        <a:p>
          <a:endParaRPr lang="en-US"/>
        </a:p>
      </dgm:t>
    </dgm:pt>
    <dgm:pt modelId="{21F27C19-764E-42EF-A867-D768624C8A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Mixed Active/Idle Usage: Approximately 440Wh capacity required for 8 hours</a:t>
          </a:r>
        </a:p>
      </dgm:t>
    </dgm:pt>
    <dgm:pt modelId="{9072CAD7-48AB-4108-AB26-8BB69690C462}" type="parTrans" cxnId="{E8B90C49-1E98-4C53-92A4-A492106DA658}">
      <dgm:prSet/>
      <dgm:spPr/>
      <dgm:t>
        <a:bodyPr/>
        <a:lstStyle/>
        <a:p>
          <a:endParaRPr lang="en-US"/>
        </a:p>
      </dgm:t>
    </dgm:pt>
    <dgm:pt modelId="{C0448DAA-8B49-4BEB-A5F3-4029B2DE6B22}" type="sibTrans" cxnId="{E8B90C49-1E98-4C53-92A4-A492106DA658}">
      <dgm:prSet/>
      <dgm:spPr/>
      <dgm:t>
        <a:bodyPr/>
        <a:lstStyle/>
        <a:p>
          <a:endParaRPr lang="en-US"/>
        </a:p>
      </dgm:t>
    </dgm:pt>
    <dgm:pt modelId="{7FA4AC12-5EFD-41D6-9B04-1C34159560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Active Power Consumption: ~55W, Idle Power Consumption: ~6.3W</a:t>
          </a:r>
        </a:p>
      </dgm:t>
    </dgm:pt>
    <dgm:pt modelId="{E0C5A45D-5B79-4B81-A7E0-7493E6797186}" type="parTrans" cxnId="{0EBC76EB-84E4-406D-8E7C-DDFCDAAE1A53}">
      <dgm:prSet/>
      <dgm:spPr/>
      <dgm:t>
        <a:bodyPr/>
        <a:lstStyle/>
        <a:p>
          <a:endParaRPr lang="en-US"/>
        </a:p>
      </dgm:t>
    </dgm:pt>
    <dgm:pt modelId="{15CD6E53-D59D-44B4-8E79-1D399A66FA0F}" type="sibTrans" cxnId="{0EBC76EB-84E4-406D-8E7C-DDFCDAAE1A53}">
      <dgm:prSet/>
      <dgm:spPr/>
      <dgm:t>
        <a:bodyPr/>
        <a:lstStyle/>
        <a:p>
          <a:endParaRPr lang="en-US"/>
        </a:p>
      </dgm:t>
    </dgm:pt>
    <dgm:pt modelId="{25A73EA8-ACE7-4CD3-B165-0729F8CA689C}" type="pres">
      <dgm:prSet presAssocID="{09E0BA85-BD75-4D5B-B46F-D9E4F97D1A22}" presName="root" presStyleCnt="0">
        <dgm:presLayoutVars>
          <dgm:dir/>
          <dgm:resizeHandles val="exact"/>
        </dgm:presLayoutVars>
      </dgm:prSet>
      <dgm:spPr/>
    </dgm:pt>
    <dgm:pt modelId="{A823408A-CACF-493B-A437-BA6C155FAC11}" type="pres">
      <dgm:prSet presAssocID="{A0BF13D1-64F9-4615-BEDC-B28F3FF33416}" presName="compNode" presStyleCnt="0"/>
      <dgm:spPr/>
    </dgm:pt>
    <dgm:pt modelId="{20EEB4BF-A688-4662-AF6F-346E1BF9CAA2}" type="pres">
      <dgm:prSet presAssocID="{A0BF13D1-64F9-4615-BEDC-B28F3FF33416}" presName="bgRect" presStyleLbl="bgShp" presStyleIdx="0" presStyleCnt="3"/>
      <dgm:spPr/>
    </dgm:pt>
    <dgm:pt modelId="{DC07597F-E2A0-4C35-9A93-010AC679B793}" type="pres">
      <dgm:prSet presAssocID="{A0BF13D1-64F9-4615-BEDC-B28F3FF3341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D1F1845-5B83-4022-87BC-CDE59DA9D646}" type="pres">
      <dgm:prSet presAssocID="{A0BF13D1-64F9-4615-BEDC-B28F3FF33416}" presName="spaceRect" presStyleCnt="0"/>
      <dgm:spPr/>
    </dgm:pt>
    <dgm:pt modelId="{F7AC5393-F078-41E5-8131-BA9C5EEE9691}" type="pres">
      <dgm:prSet presAssocID="{A0BF13D1-64F9-4615-BEDC-B28F3FF33416}" presName="parTx" presStyleLbl="revTx" presStyleIdx="0" presStyleCnt="3">
        <dgm:presLayoutVars>
          <dgm:chMax val="0"/>
          <dgm:chPref val="0"/>
        </dgm:presLayoutVars>
      </dgm:prSet>
      <dgm:spPr/>
    </dgm:pt>
    <dgm:pt modelId="{6464B13E-F269-4BD5-804F-4D082548A370}" type="pres">
      <dgm:prSet presAssocID="{109EE7FE-07CF-47B8-A1E8-25F71FF3C85F}" presName="sibTrans" presStyleCnt="0"/>
      <dgm:spPr/>
    </dgm:pt>
    <dgm:pt modelId="{3403D272-B583-466C-A4C7-8429D7D16EC1}" type="pres">
      <dgm:prSet presAssocID="{21F27C19-764E-42EF-A867-D768624C8A46}" presName="compNode" presStyleCnt="0"/>
      <dgm:spPr/>
    </dgm:pt>
    <dgm:pt modelId="{8E0C4FD6-D692-4DC7-A9D4-E93AC8CF6A8C}" type="pres">
      <dgm:prSet presAssocID="{21F27C19-764E-42EF-A867-D768624C8A46}" presName="bgRect" presStyleLbl="bgShp" presStyleIdx="1" presStyleCnt="3"/>
      <dgm:spPr/>
    </dgm:pt>
    <dgm:pt modelId="{E1E55B0E-DB6B-4305-A467-4E9F51E7AC6A}" type="pres">
      <dgm:prSet presAssocID="{21F27C19-764E-42EF-A867-D768624C8A4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CD0CB9B6-F043-49C0-86ED-264186745846}" type="pres">
      <dgm:prSet presAssocID="{21F27C19-764E-42EF-A867-D768624C8A46}" presName="spaceRect" presStyleCnt="0"/>
      <dgm:spPr/>
    </dgm:pt>
    <dgm:pt modelId="{00071FF4-DA85-4DAD-832D-E612FA72E0E9}" type="pres">
      <dgm:prSet presAssocID="{21F27C19-764E-42EF-A867-D768624C8A46}" presName="parTx" presStyleLbl="revTx" presStyleIdx="1" presStyleCnt="3">
        <dgm:presLayoutVars>
          <dgm:chMax val="0"/>
          <dgm:chPref val="0"/>
        </dgm:presLayoutVars>
      </dgm:prSet>
      <dgm:spPr/>
    </dgm:pt>
    <dgm:pt modelId="{2DAFCC8B-5825-43A4-B2E8-857D0342F76A}" type="pres">
      <dgm:prSet presAssocID="{C0448DAA-8B49-4BEB-A5F3-4029B2DE6B22}" presName="sibTrans" presStyleCnt="0"/>
      <dgm:spPr/>
    </dgm:pt>
    <dgm:pt modelId="{1ABA810C-9072-4395-840D-DA91DE2C45D8}" type="pres">
      <dgm:prSet presAssocID="{7FA4AC12-5EFD-41D6-9B04-1C341595606B}" presName="compNode" presStyleCnt="0"/>
      <dgm:spPr/>
    </dgm:pt>
    <dgm:pt modelId="{5AFF7710-A63D-428B-B187-3ED783A1A4D9}" type="pres">
      <dgm:prSet presAssocID="{7FA4AC12-5EFD-41D6-9B04-1C341595606B}" presName="bgRect" presStyleLbl="bgShp" presStyleIdx="2" presStyleCnt="3"/>
      <dgm:spPr/>
    </dgm:pt>
    <dgm:pt modelId="{D7F6062B-9838-49DD-ADB0-E370FE0CC45C}" type="pres">
      <dgm:prSet presAssocID="{7FA4AC12-5EFD-41D6-9B04-1C341595606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21731335-F72E-47AE-BCA9-47679FA96C43}" type="pres">
      <dgm:prSet presAssocID="{7FA4AC12-5EFD-41D6-9B04-1C341595606B}" presName="spaceRect" presStyleCnt="0"/>
      <dgm:spPr/>
    </dgm:pt>
    <dgm:pt modelId="{4C9A94A0-455A-4FE8-9907-2DA01219D3E0}" type="pres">
      <dgm:prSet presAssocID="{7FA4AC12-5EFD-41D6-9B04-1C341595606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B19FC20-18D6-4733-B103-305D4B95FF1C}" type="presOf" srcId="{A0BF13D1-64F9-4615-BEDC-B28F3FF33416}" destId="{F7AC5393-F078-41E5-8131-BA9C5EEE9691}" srcOrd="0" destOrd="0" presId="urn:microsoft.com/office/officeart/2018/2/layout/IconVerticalSolidList"/>
    <dgm:cxn modelId="{E8B90C49-1E98-4C53-92A4-A492106DA658}" srcId="{09E0BA85-BD75-4D5B-B46F-D9E4F97D1A22}" destId="{21F27C19-764E-42EF-A867-D768624C8A46}" srcOrd="1" destOrd="0" parTransId="{9072CAD7-48AB-4108-AB26-8BB69690C462}" sibTransId="{C0448DAA-8B49-4BEB-A5F3-4029B2DE6B22}"/>
    <dgm:cxn modelId="{ED3AC069-FF68-4E46-B080-086E8AB980B1}" type="presOf" srcId="{7FA4AC12-5EFD-41D6-9B04-1C341595606B}" destId="{4C9A94A0-455A-4FE8-9907-2DA01219D3E0}" srcOrd="0" destOrd="0" presId="urn:microsoft.com/office/officeart/2018/2/layout/IconVerticalSolidList"/>
    <dgm:cxn modelId="{B3F684BA-CAE0-4590-B48B-94FB2025A432}" type="presOf" srcId="{09E0BA85-BD75-4D5B-B46F-D9E4F97D1A22}" destId="{25A73EA8-ACE7-4CD3-B165-0729F8CA689C}" srcOrd="0" destOrd="0" presId="urn:microsoft.com/office/officeart/2018/2/layout/IconVerticalSolidList"/>
    <dgm:cxn modelId="{704229BB-18EC-4A6F-8F8D-1F4CAFBCE0E8}" srcId="{09E0BA85-BD75-4D5B-B46F-D9E4F97D1A22}" destId="{A0BF13D1-64F9-4615-BEDC-B28F3FF33416}" srcOrd="0" destOrd="0" parTransId="{5C230540-7F08-444F-B1AC-BD6C3A782D11}" sibTransId="{109EE7FE-07CF-47B8-A1E8-25F71FF3C85F}"/>
    <dgm:cxn modelId="{E6E52CC3-4056-46B2-86A6-F10FB4A830DC}" type="presOf" srcId="{21F27C19-764E-42EF-A867-D768624C8A46}" destId="{00071FF4-DA85-4DAD-832D-E612FA72E0E9}" srcOrd="0" destOrd="0" presId="urn:microsoft.com/office/officeart/2018/2/layout/IconVerticalSolidList"/>
    <dgm:cxn modelId="{0EBC76EB-84E4-406D-8E7C-DDFCDAAE1A53}" srcId="{09E0BA85-BD75-4D5B-B46F-D9E4F97D1A22}" destId="{7FA4AC12-5EFD-41D6-9B04-1C341595606B}" srcOrd="2" destOrd="0" parTransId="{E0C5A45D-5B79-4B81-A7E0-7493E6797186}" sibTransId="{15CD6E53-D59D-44B4-8E79-1D399A66FA0F}"/>
    <dgm:cxn modelId="{7AA17F74-EFF9-4CD2-A69D-42958F296957}" type="presParOf" srcId="{25A73EA8-ACE7-4CD3-B165-0729F8CA689C}" destId="{A823408A-CACF-493B-A437-BA6C155FAC11}" srcOrd="0" destOrd="0" presId="urn:microsoft.com/office/officeart/2018/2/layout/IconVerticalSolidList"/>
    <dgm:cxn modelId="{56821F1D-CA66-4904-BAE6-47A8645AEDE2}" type="presParOf" srcId="{A823408A-CACF-493B-A437-BA6C155FAC11}" destId="{20EEB4BF-A688-4662-AF6F-346E1BF9CAA2}" srcOrd="0" destOrd="0" presId="urn:microsoft.com/office/officeart/2018/2/layout/IconVerticalSolidList"/>
    <dgm:cxn modelId="{D504EF91-B275-41AE-B264-A8EB5B426E39}" type="presParOf" srcId="{A823408A-CACF-493B-A437-BA6C155FAC11}" destId="{DC07597F-E2A0-4C35-9A93-010AC679B793}" srcOrd="1" destOrd="0" presId="urn:microsoft.com/office/officeart/2018/2/layout/IconVerticalSolidList"/>
    <dgm:cxn modelId="{4934CD92-9832-4D22-AD26-37502E3571BD}" type="presParOf" srcId="{A823408A-CACF-493B-A437-BA6C155FAC11}" destId="{4D1F1845-5B83-4022-87BC-CDE59DA9D646}" srcOrd="2" destOrd="0" presId="urn:microsoft.com/office/officeart/2018/2/layout/IconVerticalSolidList"/>
    <dgm:cxn modelId="{0B3CDD02-3BEE-4BE2-ABB9-573FD28F885B}" type="presParOf" srcId="{A823408A-CACF-493B-A437-BA6C155FAC11}" destId="{F7AC5393-F078-41E5-8131-BA9C5EEE9691}" srcOrd="3" destOrd="0" presId="urn:microsoft.com/office/officeart/2018/2/layout/IconVerticalSolidList"/>
    <dgm:cxn modelId="{3AECD7B6-86BD-42A2-BFD6-754BB295E51D}" type="presParOf" srcId="{25A73EA8-ACE7-4CD3-B165-0729F8CA689C}" destId="{6464B13E-F269-4BD5-804F-4D082548A370}" srcOrd="1" destOrd="0" presId="urn:microsoft.com/office/officeart/2018/2/layout/IconVerticalSolidList"/>
    <dgm:cxn modelId="{B8C8A14F-E319-43FD-AC5E-3915A89B5782}" type="presParOf" srcId="{25A73EA8-ACE7-4CD3-B165-0729F8CA689C}" destId="{3403D272-B583-466C-A4C7-8429D7D16EC1}" srcOrd="2" destOrd="0" presId="urn:microsoft.com/office/officeart/2018/2/layout/IconVerticalSolidList"/>
    <dgm:cxn modelId="{4576A072-2FE5-4AE7-87C8-02E978CA311A}" type="presParOf" srcId="{3403D272-B583-466C-A4C7-8429D7D16EC1}" destId="{8E0C4FD6-D692-4DC7-A9D4-E93AC8CF6A8C}" srcOrd="0" destOrd="0" presId="urn:microsoft.com/office/officeart/2018/2/layout/IconVerticalSolidList"/>
    <dgm:cxn modelId="{8069D23F-C3EB-4627-9F25-C32F502732AB}" type="presParOf" srcId="{3403D272-B583-466C-A4C7-8429D7D16EC1}" destId="{E1E55B0E-DB6B-4305-A467-4E9F51E7AC6A}" srcOrd="1" destOrd="0" presId="urn:microsoft.com/office/officeart/2018/2/layout/IconVerticalSolidList"/>
    <dgm:cxn modelId="{D41D0988-E08A-4A41-AA23-D1B9B8E7B9E3}" type="presParOf" srcId="{3403D272-B583-466C-A4C7-8429D7D16EC1}" destId="{CD0CB9B6-F043-49C0-86ED-264186745846}" srcOrd="2" destOrd="0" presId="urn:microsoft.com/office/officeart/2018/2/layout/IconVerticalSolidList"/>
    <dgm:cxn modelId="{CF19D8E1-6F55-4324-B619-64AA8976F76F}" type="presParOf" srcId="{3403D272-B583-466C-A4C7-8429D7D16EC1}" destId="{00071FF4-DA85-4DAD-832D-E612FA72E0E9}" srcOrd="3" destOrd="0" presId="urn:microsoft.com/office/officeart/2018/2/layout/IconVerticalSolidList"/>
    <dgm:cxn modelId="{552B58F5-0E1A-43B7-8500-12EB3D6C523D}" type="presParOf" srcId="{25A73EA8-ACE7-4CD3-B165-0729F8CA689C}" destId="{2DAFCC8B-5825-43A4-B2E8-857D0342F76A}" srcOrd="3" destOrd="0" presId="urn:microsoft.com/office/officeart/2018/2/layout/IconVerticalSolidList"/>
    <dgm:cxn modelId="{A57B3B8D-3A74-4A1B-BD5C-FE7D26AD2F85}" type="presParOf" srcId="{25A73EA8-ACE7-4CD3-B165-0729F8CA689C}" destId="{1ABA810C-9072-4395-840D-DA91DE2C45D8}" srcOrd="4" destOrd="0" presId="urn:microsoft.com/office/officeart/2018/2/layout/IconVerticalSolidList"/>
    <dgm:cxn modelId="{18D696D0-E463-4FEE-9C06-1B2BAD0BAC3C}" type="presParOf" srcId="{1ABA810C-9072-4395-840D-DA91DE2C45D8}" destId="{5AFF7710-A63D-428B-B187-3ED783A1A4D9}" srcOrd="0" destOrd="0" presId="urn:microsoft.com/office/officeart/2018/2/layout/IconVerticalSolidList"/>
    <dgm:cxn modelId="{52010DC7-3314-4016-8739-8562AD54DB46}" type="presParOf" srcId="{1ABA810C-9072-4395-840D-DA91DE2C45D8}" destId="{D7F6062B-9838-49DD-ADB0-E370FE0CC45C}" srcOrd="1" destOrd="0" presId="urn:microsoft.com/office/officeart/2018/2/layout/IconVerticalSolidList"/>
    <dgm:cxn modelId="{5A583868-B2CD-4D65-9864-6924872A356B}" type="presParOf" srcId="{1ABA810C-9072-4395-840D-DA91DE2C45D8}" destId="{21731335-F72E-47AE-BCA9-47679FA96C43}" srcOrd="2" destOrd="0" presId="urn:microsoft.com/office/officeart/2018/2/layout/IconVerticalSolidList"/>
    <dgm:cxn modelId="{6F309E03-4B57-4554-B5D1-B40013B0F7E1}" type="presParOf" srcId="{1ABA810C-9072-4395-840D-DA91DE2C45D8}" destId="{4C9A94A0-455A-4FE8-9907-2DA01219D3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EB4BF-A688-4662-AF6F-346E1BF9CAA2}">
      <dsp:nvSpPr>
        <dsp:cNvPr id="0" name=""/>
        <dsp:cNvSpPr/>
      </dsp:nvSpPr>
      <dsp:spPr>
        <a:xfrm>
          <a:off x="0" y="434"/>
          <a:ext cx="4847193" cy="1015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7597F-E2A0-4C35-9A93-010AC679B793}">
      <dsp:nvSpPr>
        <dsp:cNvPr id="0" name=""/>
        <dsp:cNvSpPr/>
      </dsp:nvSpPr>
      <dsp:spPr>
        <a:xfrm>
          <a:off x="307220" y="228945"/>
          <a:ext cx="558583" cy="558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C5393-F078-41E5-8131-BA9C5EEE9691}">
      <dsp:nvSpPr>
        <dsp:cNvPr id="0" name=""/>
        <dsp:cNvSpPr/>
      </dsp:nvSpPr>
      <dsp:spPr>
        <a:xfrm>
          <a:off x="1173025" y="434"/>
          <a:ext cx="3674167" cy="1015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85" tIns="107485" rIns="107485" bIns="10748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Estimated Total Power Consumption and Operating Time for 8 Hours</a:t>
          </a:r>
          <a:endParaRPr lang="en-US" sz="1600" kern="1200" dirty="0"/>
        </a:p>
      </dsp:txBody>
      <dsp:txXfrm>
        <a:off x="1173025" y="434"/>
        <a:ext cx="3674167" cy="1015606"/>
      </dsp:txXfrm>
    </dsp:sp>
    <dsp:sp modelId="{8E0C4FD6-D692-4DC7-A9D4-E93AC8CF6A8C}">
      <dsp:nvSpPr>
        <dsp:cNvPr id="0" name=""/>
        <dsp:cNvSpPr/>
      </dsp:nvSpPr>
      <dsp:spPr>
        <a:xfrm>
          <a:off x="0" y="1269942"/>
          <a:ext cx="4847193" cy="1015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E55B0E-DB6B-4305-A467-4E9F51E7AC6A}">
      <dsp:nvSpPr>
        <dsp:cNvPr id="0" name=""/>
        <dsp:cNvSpPr/>
      </dsp:nvSpPr>
      <dsp:spPr>
        <a:xfrm>
          <a:off x="307220" y="1498453"/>
          <a:ext cx="558583" cy="558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71FF4-DA85-4DAD-832D-E612FA72E0E9}">
      <dsp:nvSpPr>
        <dsp:cNvPr id="0" name=""/>
        <dsp:cNvSpPr/>
      </dsp:nvSpPr>
      <dsp:spPr>
        <a:xfrm>
          <a:off x="1173025" y="1269942"/>
          <a:ext cx="3674167" cy="1015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85" tIns="107485" rIns="107485" bIns="10748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Mixed Active/Idle Usage: Approximately 440Wh capacity required for 8 hours</a:t>
          </a:r>
        </a:p>
      </dsp:txBody>
      <dsp:txXfrm>
        <a:off x="1173025" y="1269942"/>
        <a:ext cx="3674167" cy="1015606"/>
      </dsp:txXfrm>
    </dsp:sp>
    <dsp:sp modelId="{5AFF7710-A63D-428B-B187-3ED783A1A4D9}">
      <dsp:nvSpPr>
        <dsp:cNvPr id="0" name=""/>
        <dsp:cNvSpPr/>
      </dsp:nvSpPr>
      <dsp:spPr>
        <a:xfrm>
          <a:off x="0" y="2539450"/>
          <a:ext cx="4847193" cy="101560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F6062B-9838-49DD-ADB0-E370FE0CC45C}">
      <dsp:nvSpPr>
        <dsp:cNvPr id="0" name=""/>
        <dsp:cNvSpPr/>
      </dsp:nvSpPr>
      <dsp:spPr>
        <a:xfrm>
          <a:off x="307220" y="2767961"/>
          <a:ext cx="558583" cy="558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A94A0-455A-4FE8-9907-2DA01219D3E0}">
      <dsp:nvSpPr>
        <dsp:cNvPr id="0" name=""/>
        <dsp:cNvSpPr/>
      </dsp:nvSpPr>
      <dsp:spPr>
        <a:xfrm>
          <a:off x="1173025" y="2539450"/>
          <a:ext cx="3674167" cy="10156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485" tIns="107485" rIns="107485" bIns="10748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Active Power Consumption: ~55W, Idle Power Consumption: ~6.3W</a:t>
          </a:r>
        </a:p>
      </dsp:txBody>
      <dsp:txXfrm>
        <a:off x="1173025" y="2539450"/>
        <a:ext cx="3674167" cy="1015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4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557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11/6/2024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4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9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11/6/2024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66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11/6/2024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459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0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11/6/2024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6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11/6/2024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9549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895" r:id="rId6"/>
    <p:sldLayoutId id="2147483891" r:id="rId7"/>
    <p:sldLayoutId id="2147483892" r:id="rId8"/>
    <p:sldLayoutId id="2147483893" r:id="rId9"/>
    <p:sldLayoutId id="2147483894" r:id="rId10"/>
    <p:sldLayoutId id="214748389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280" y="750626"/>
            <a:ext cx="5376258" cy="7449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kern="1200" err="1">
                <a:latin typeface="+mj-lt"/>
                <a:ea typeface="+mj-ea"/>
                <a:cs typeface="+mj-cs"/>
              </a:rPr>
              <a:t>BrailleBot</a:t>
            </a:r>
            <a:r>
              <a:rPr lang="en-US" sz="2400" b="1" kern="1200" dirty="0">
                <a:latin typeface="+mj-lt"/>
                <a:ea typeface="+mj-ea"/>
                <a:cs typeface="+mj-cs"/>
              </a:rPr>
              <a:t>: The Autonomous Guide for the Visually Impaired</a:t>
            </a:r>
            <a:endParaRPr lang="en-US" sz="2400" b="1" kern="1200" dirty="0"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0627" y="1714789"/>
            <a:ext cx="5547367" cy="4410166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171450" indent="-228600">
              <a:lnSpc>
                <a:spcPct val="110000"/>
              </a:lnSpc>
              <a:buFont typeface="Arial"/>
              <a:buChar char="•"/>
            </a:pPr>
            <a:r>
              <a:rPr lang="en-US" sz="1000" b="1" dirty="0"/>
              <a:t>Challenges Faced by the Visually Impaired:</a:t>
            </a:r>
            <a:endParaRPr lang="en-US" sz="1000" dirty="0"/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Difficulty navigating complex environments (stations, hospitals, etc.) without consistent assistance.</a:t>
            </a:r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Dependence on human help, which may be unreliable or unavailable.</a:t>
            </a:r>
          </a:p>
          <a:p>
            <a:pPr marL="171450" indent="-228600">
              <a:lnSpc>
                <a:spcPct val="110000"/>
              </a:lnSpc>
              <a:buChar char="•"/>
            </a:pPr>
            <a:r>
              <a:rPr lang="en-US" sz="1000" b="1" dirty="0"/>
              <a:t>Purpose and Scope of </a:t>
            </a:r>
            <a:r>
              <a:rPr lang="en-US" sz="1000" b="1" dirty="0" err="1"/>
              <a:t>BrailleBot</a:t>
            </a:r>
            <a:r>
              <a:rPr lang="en-US" sz="1000" b="1" dirty="0"/>
              <a:t>:</a:t>
            </a:r>
            <a:endParaRPr lang="en-US" sz="1000" dirty="0"/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Autonomous, personalized guidance for blind individuals in various public spaces.</a:t>
            </a:r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Indoor and outdoor navigation, covering complex areas like metro stations and hospitals.</a:t>
            </a:r>
          </a:p>
          <a:p>
            <a:pPr marL="171450" indent="-228600">
              <a:lnSpc>
                <a:spcPct val="110000"/>
              </a:lnSpc>
              <a:buChar char="•"/>
            </a:pPr>
            <a:r>
              <a:rPr lang="en-US" sz="1000" b="1" dirty="0"/>
              <a:t>Core Features of </a:t>
            </a:r>
            <a:r>
              <a:rPr lang="en-US" sz="1000" b="1" dirty="0" err="1"/>
              <a:t>BrailleBot</a:t>
            </a:r>
            <a:r>
              <a:rPr lang="en-US" sz="1000" b="1" dirty="0"/>
              <a:t>:</a:t>
            </a:r>
            <a:endParaRPr lang="en-US" sz="1000" dirty="0"/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Guided Navigation: Offers precise routing using LiDAR and accurate mapping.</a:t>
            </a:r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Elevator Integration: Interfaces with elevators for easy floor-to-floor access.</a:t>
            </a:r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/>
              <a:t>Voice Interaction: Communicates with users via voice </a:t>
            </a:r>
            <a:r>
              <a:rPr lang="en-US" sz="1000" dirty="0"/>
              <a:t>assistance.</a:t>
            </a:r>
          </a:p>
          <a:p>
            <a:pPr marL="628650" lvl="1" indent="-228600" algn="l">
              <a:lnSpc>
                <a:spcPct val="110000"/>
              </a:lnSpc>
              <a:buFont typeface="Courier New"/>
              <a:buChar char="o"/>
            </a:pPr>
            <a:r>
              <a:rPr lang="en-US" sz="1000" dirty="0"/>
              <a:t>Safety Indicators: Equipped with an emergency light tower to signal the robot’s presence.</a:t>
            </a:r>
          </a:p>
          <a:p>
            <a:pPr marL="171450" indent="-228600">
              <a:lnSpc>
                <a:spcPct val="110000"/>
              </a:lnSpc>
              <a:buChar char="•"/>
            </a:pPr>
            <a:r>
              <a:rPr lang="en-US" sz="1000" b="1" dirty="0"/>
              <a:t>Social Impact:</a:t>
            </a:r>
            <a:endParaRPr lang="en-US" sz="1000" dirty="0"/>
          </a:p>
          <a:p>
            <a:pPr marL="628650" lvl="1" indent="-228600" algn="l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000" err="1"/>
              <a:t>BrailleBot</a:t>
            </a:r>
            <a:r>
              <a:rPr lang="en-US" sz="1000" dirty="0"/>
              <a:t> fosters independence, promoting accessibility and inclusion in public spaces.</a:t>
            </a:r>
          </a:p>
        </p:txBody>
      </p:sp>
      <p:pic>
        <p:nvPicPr>
          <p:cNvPr id="5" name="Picture 4" descr="A robot in a station&#10;&#10;Description automatically generated">
            <a:extLst>
              <a:ext uri="{FF2B5EF4-FFF2-40B4-BE49-F238E27FC236}">
                <a16:creationId xmlns:a16="http://schemas.microsoft.com/office/drawing/2014/main" id="{7D30A969-636C-DDA7-AE70-F8FEC366C0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2" r="7156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CF2029-D88F-8FE6-6689-D3268D6D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err="1">
                <a:latin typeface="Calibri"/>
                <a:cs typeface="Calibri"/>
              </a:rPr>
              <a:t>BrailleBot</a:t>
            </a:r>
            <a:r>
              <a:rPr lang="en-US">
                <a:latin typeface="Calibri"/>
                <a:cs typeface="Calibri"/>
              </a:rPr>
              <a:t> Design: Power and Sensors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389D-51E1-4D76-EF17-AA509B83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11/6/2024</a:t>
            </a:fld>
            <a:endParaRPr lang="en-US"/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93DB7FB5-DCFB-2089-F25E-BCC4440EFC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0627" y="2569464"/>
          <a:ext cx="4847193" cy="3555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FF21A6D-AB49-973B-04F9-A42407FC2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677913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677913 w 6096000"/>
              <a:gd name="connsiteY3" fmla="*/ 6858000 h 6858000"/>
              <a:gd name="connsiteX4" fmla="*/ 0 w 6096000"/>
              <a:gd name="connsiteY4" fmla="*/ 6180087 h 6858000"/>
              <a:gd name="connsiteX5" fmla="*/ 0 w 6096000"/>
              <a:gd name="connsiteY5" fmla="*/ 677913 h 6858000"/>
              <a:gd name="connsiteX6" fmla="*/ 677913 w 6096000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835B2-0F43-8C06-7545-FCB58BD2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000000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880303-2A5E-1147-58BA-EFC1542CA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75774"/>
              </p:ext>
            </p:extLst>
          </p:nvPr>
        </p:nvGraphicFramePr>
        <p:xfrm>
          <a:off x="6260756" y="401594"/>
          <a:ext cx="5229965" cy="250470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195399">
                  <a:extLst>
                    <a:ext uri="{9D8B030D-6E8A-4147-A177-3AD203B41FA5}">
                      <a16:colId xmlns:a16="http://schemas.microsoft.com/office/drawing/2014/main" val="3126347179"/>
                    </a:ext>
                  </a:extLst>
                </a:gridCol>
                <a:gridCol w="1341728">
                  <a:extLst>
                    <a:ext uri="{9D8B030D-6E8A-4147-A177-3AD203B41FA5}">
                      <a16:colId xmlns:a16="http://schemas.microsoft.com/office/drawing/2014/main" val="2565015003"/>
                    </a:ext>
                  </a:extLst>
                </a:gridCol>
                <a:gridCol w="1398009">
                  <a:extLst>
                    <a:ext uri="{9D8B030D-6E8A-4147-A177-3AD203B41FA5}">
                      <a16:colId xmlns:a16="http://schemas.microsoft.com/office/drawing/2014/main" val="3985683729"/>
                    </a:ext>
                  </a:extLst>
                </a:gridCol>
                <a:gridCol w="1294829">
                  <a:extLst>
                    <a:ext uri="{9D8B030D-6E8A-4147-A177-3AD203B41FA5}">
                      <a16:colId xmlns:a16="http://schemas.microsoft.com/office/drawing/2014/main" val="2092755661"/>
                    </a:ext>
                  </a:extLst>
                </a:gridCol>
              </a:tblGrid>
              <a:tr h="473864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</a:rPr>
                        <a:t>Component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</a:rPr>
                        <a:t>Model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</a:rPr>
                        <a:t>Specifications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</a:rPr>
                        <a:t>Power Consumption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269306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Battery Pack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Anker </a:t>
                      </a:r>
                      <a:r>
                        <a:rPr lang="en-IN" sz="1000" kern="1200" dirty="0" err="1">
                          <a:solidFill>
                            <a:srgbClr val="595959"/>
                          </a:solidFill>
                          <a:effectLst/>
                        </a:rPr>
                        <a:t>PowerHouse</a:t>
                      </a:r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 II 400 or Equivalent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388Wh capacity, Lithium-Ion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—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80048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Additional Battery Pack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Second pack for 440Wh total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Connected in parallel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—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677554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Drive Motors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Maxon DCX 22S High Torque Motor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12V, 4000 RPM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~15W each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626485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Motor Controller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 err="1">
                          <a:solidFill>
                            <a:srgbClr val="595959"/>
                          </a:solidFill>
                          <a:effectLst/>
                        </a:rPr>
                        <a:t>Roboclaw</a:t>
                      </a:r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 2x7A Motor Controller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Dual-channel, with feedback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2W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541702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Charger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 err="1">
                          <a:solidFill>
                            <a:srgbClr val="595959"/>
                          </a:solidFill>
                          <a:effectLst/>
                        </a:rPr>
                        <a:t>Nitecore</a:t>
                      </a:r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 D4 Intelligent Charger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Fast charging, auto shut-off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</a:rPr>
                        <a:t>10W (during charge)</a:t>
                      </a:r>
                      <a:endParaRPr lang="en-IN" sz="1800" dirty="0">
                        <a:effectLst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9916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5B0CB8-2BEA-FB04-DE6D-617616475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564777"/>
              </p:ext>
            </p:extLst>
          </p:nvPr>
        </p:nvGraphicFramePr>
        <p:xfrm>
          <a:off x="6291648" y="3109783"/>
          <a:ext cx="5311837" cy="3053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959">
                  <a:extLst>
                    <a:ext uri="{9D8B030D-6E8A-4147-A177-3AD203B41FA5}">
                      <a16:colId xmlns:a16="http://schemas.microsoft.com/office/drawing/2014/main" val="2100148718"/>
                    </a:ext>
                  </a:extLst>
                </a:gridCol>
                <a:gridCol w="1327959">
                  <a:extLst>
                    <a:ext uri="{9D8B030D-6E8A-4147-A177-3AD203B41FA5}">
                      <a16:colId xmlns:a16="http://schemas.microsoft.com/office/drawing/2014/main" val="396838062"/>
                    </a:ext>
                  </a:extLst>
                </a:gridCol>
                <a:gridCol w="1659950">
                  <a:extLst>
                    <a:ext uri="{9D8B030D-6E8A-4147-A177-3AD203B41FA5}">
                      <a16:colId xmlns:a16="http://schemas.microsoft.com/office/drawing/2014/main" val="560899272"/>
                    </a:ext>
                  </a:extLst>
                </a:gridCol>
                <a:gridCol w="995969">
                  <a:extLst>
                    <a:ext uri="{9D8B030D-6E8A-4147-A177-3AD203B41FA5}">
                      <a16:colId xmlns:a16="http://schemas.microsoft.com/office/drawing/2014/main" val="4045308554"/>
                    </a:ext>
                  </a:extLst>
                </a:gridCol>
              </a:tblGrid>
              <a:tr h="597144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  <a:latin typeface="Calibri"/>
                        </a:rPr>
                        <a:t>Component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  <a:latin typeface="Calibri"/>
                        </a:rPr>
                        <a:t>Model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  <a:latin typeface="Calibri"/>
                        </a:rPr>
                        <a:t>Specifications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200" b="1" kern="1200" dirty="0">
                          <a:solidFill>
                            <a:srgbClr val="0066CC"/>
                          </a:solidFill>
                          <a:effectLst/>
                          <a:latin typeface="Calibri"/>
                        </a:rPr>
                        <a:t>Power Consumption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051295"/>
                  </a:ext>
                </a:extLst>
              </a:tr>
              <a:tr h="477715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LiDAR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RPLIDAR A3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360-degree FOV, 25m range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~8W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857992"/>
                  </a:ext>
                </a:extLst>
              </a:tr>
              <a:tr h="477715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Ultrasonic Sensors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 err="1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MaxBotix</a:t>
                      </a:r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 MB1040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Range: 20-765cm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0.2W each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23340"/>
                  </a:ext>
                </a:extLst>
              </a:tr>
              <a:tr h="477715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Camera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Intel RealSense D435i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RGB and depth sensing, IMU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1.6W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156673"/>
                  </a:ext>
                </a:extLst>
              </a:tr>
              <a:tr h="511837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Environmental Sensor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Bosch BME280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Temperature, humidity, pressure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~0.003W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548980"/>
                  </a:ext>
                </a:extLst>
              </a:tr>
              <a:tr h="511837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Emergency Light Strip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Adafruit </a:t>
                      </a:r>
                      <a:r>
                        <a:rPr lang="en-IN" sz="1000" kern="1200" dirty="0" err="1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NeoPixel</a:t>
                      </a:r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 RGBW Strip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High brightness, customizable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IN" sz="1000" kern="1200" dirty="0">
                          <a:solidFill>
                            <a:srgbClr val="595959"/>
                          </a:solidFill>
                          <a:effectLst/>
                          <a:latin typeface="Calibri"/>
                        </a:rPr>
                        <a:t>10W</a:t>
                      </a:r>
                      <a:endParaRPr lang="en-IN" dirty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48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28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F12A-19B8-A20B-1C02-82362596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Calibri"/>
                <a:cs typeface="Calibri"/>
              </a:rPr>
              <a:t>BrailleBot</a:t>
            </a:r>
            <a:r>
              <a:rPr lang="en-US" dirty="0">
                <a:latin typeface="Calibri"/>
                <a:cs typeface="Calibri"/>
              </a:rPr>
              <a:t> Design: Navigation and Software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B86F7B-3AD8-4C9E-3172-4BE2547EB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Neue Haas Grotesk Text Pro"/>
                <a:cs typeface="Calibri"/>
              </a:rPr>
              <a:t>Navigation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BFD8-28AE-3194-897C-F7AAA7676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tx1"/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400" b="1" dirty="0">
                <a:solidFill>
                  <a:srgbClr val="595959"/>
                </a:solidFill>
                <a:latin typeface="Calibri"/>
                <a:cs typeface="Calibri"/>
              </a:rPr>
              <a:t>Mapping and Localization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>
                <a:solidFill>
                  <a:srgbClr val="595959"/>
                </a:solidFill>
                <a:latin typeface="Calibri"/>
                <a:cs typeface="Calibri"/>
              </a:rPr>
              <a:t>LiDAR (RPLIDAR A3): 360-degree scanning for real-time spatial mapping.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SLAM: Uses LiDAR and camera data to map environments and localize </a:t>
            </a:r>
            <a:r>
              <a:rPr lang="en-US" sz="1000" err="1">
                <a:solidFill>
                  <a:srgbClr val="595959"/>
                </a:solidFill>
                <a:latin typeface="Calibri"/>
                <a:cs typeface="Calibri"/>
              </a:rPr>
              <a:t>BrailleBot</a:t>
            </a: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.</a:t>
            </a:r>
            <a:endParaRPr lang="en-US" sz="1000"/>
          </a:p>
          <a:p>
            <a:r>
              <a:rPr lang="en-US" sz="1400" b="1" dirty="0">
                <a:solidFill>
                  <a:srgbClr val="595959"/>
                </a:solidFill>
                <a:latin typeface="Calibri"/>
                <a:cs typeface="Calibri"/>
              </a:rPr>
              <a:t>Obstacle Detection and Avoidance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Ultrasonic Sensors (</a:t>
            </a:r>
            <a:r>
              <a:rPr lang="en-US" sz="1000" err="1">
                <a:solidFill>
                  <a:srgbClr val="595959"/>
                </a:solidFill>
                <a:latin typeface="Calibri"/>
                <a:cs typeface="Calibri"/>
              </a:rPr>
              <a:t>MaxBotix</a:t>
            </a: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 MB1040): Prevents close-range collisions.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Depth Camera (Intel RealSense D435i): Assists in obstacle detection and object recognition.</a:t>
            </a:r>
            <a:endParaRPr lang="en-US" sz="1000"/>
          </a:p>
          <a:p>
            <a:r>
              <a:rPr lang="en-US" sz="1400" b="1" dirty="0">
                <a:solidFill>
                  <a:srgbClr val="595959"/>
                </a:solidFill>
                <a:latin typeface="Calibri"/>
                <a:cs typeface="Calibri"/>
              </a:rPr>
              <a:t>Path Planning</a:t>
            </a:r>
            <a:endParaRPr lang="en-US" sz="1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Navigation Algorithms: Uses A* and Dijkstra algorithms for optimal pathfinding.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Elevator and Door Access: IoT-enabled systems for multi-level navigation in buildings.</a:t>
            </a:r>
            <a:endParaRPr lang="en-US" sz="10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75C34F-F2E6-9C11-E609-A4A114087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Neue Haas Grotesk Text Pro"/>
                <a:cs typeface="Calibri"/>
              </a:rPr>
              <a:t>Software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42DABB-7EDD-8BC6-00B1-E807FAC9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solidFill>
            <a:schemeClr val="tx1"/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300" b="1" dirty="0">
                <a:solidFill>
                  <a:srgbClr val="595959"/>
                </a:solidFill>
                <a:latin typeface="Calibri"/>
                <a:cs typeface="Calibri"/>
              </a:rPr>
              <a:t>Operating System</a:t>
            </a:r>
            <a:endParaRPr lang="en-US" sz="13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ROS2 for coordinating sensor data, motor control, and path planning.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 b="1" dirty="0">
                <a:solidFill>
                  <a:srgbClr val="595959"/>
                </a:solidFill>
                <a:latin typeface="Calibri"/>
                <a:cs typeface="Calibri"/>
              </a:rPr>
              <a:t>Artificial Intelligence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Meta LLM: Provides user interaction for answering questions and navigation assistance.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Computer Vision Algorithms: Processes camera data to recognize signs and environmental cues.</a:t>
            </a:r>
            <a:endParaRPr lang="en-US" sz="1000"/>
          </a:p>
          <a:p>
            <a:r>
              <a:rPr lang="en-US" sz="1300" b="1" dirty="0">
                <a:solidFill>
                  <a:srgbClr val="595959"/>
                </a:solidFill>
                <a:latin typeface="Calibri"/>
                <a:cs typeface="Calibri"/>
              </a:rPr>
              <a:t>Control and Feedback</a:t>
            </a:r>
            <a:endParaRPr lang="en-US" sz="13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Motor Control: Managed by </a:t>
            </a:r>
            <a:r>
              <a:rPr lang="en-US" sz="1000" err="1">
                <a:solidFill>
                  <a:srgbClr val="595959"/>
                </a:solidFill>
                <a:latin typeface="Calibri"/>
                <a:cs typeface="Calibri"/>
              </a:rPr>
              <a:t>Roboclaw</a:t>
            </a: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 motor controller for smooth and precise movements.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Safety Protocols: Emergency stop if obstacles detected or off-path deviation occurs.</a:t>
            </a:r>
            <a:endParaRPr lang="en-US" sz="1000"/>
          </a:p>
          <a:p>
            <a:r>
              <a:rPr lang="en-US" sz="1300" b="1" dirty="0">
                <a:solidFill>
                  <a:srgbClr val="595959"/>
                </a:solidFill>
                <a:latin typeface="Calibri"/>
                <a:cs typeface="Calibri"/>
              </a:rPr>
              <a:t>IoT Connectivity</a:t>
            </a:r>
            <a:endParaRPr lang="en-US" sz="13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Elevator and Door Communication: Interfaces with smart building systems for multi-floor navigation.</a:t>
            </a:r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786B-6A1F-5C05-5F4C-065D839E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11/6/2024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9AF8F-0AEB-2F52-21F0-4389206A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04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775292A-879D-5AD9-4F3B-E603DC066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3C412C-6207-1698-215D-A32F5273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161"/>
            <a:ext cx="4806615" cy="1970600"/>
          </a:xfrm>
        </p:spPr>
        <p:txBody>
          <a:bodyPr anchor="t">
            <a:normAutofit/>
          </a:bodyPr>
          <a:lstStyle/>
          <a:p>
            <a:r>
              <a:rPr lang="en-US" dirty="0" err="1">
                <a:latin typeface="Neue Haas Grotesk Text Pro"/>
                <a:cs typeface="Calibri"/>
              </a:rPr>
              <a:t>BrailleBot</a:t>
            </a:r>
            <a:r>
              <a:rPr lang="en-US" dirty="0">
                <a:latin typeface="Neue Haas Grotesk Text Pro"/>
                <a:cs typeface="Calibri"/>
              </a:rPr>
              <a:t> Design: Control and Interaction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697EC-1105-1824-C320-FEED0031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D631DCC-9916-4BB7-A2E9-25EC84C740A7}" type="datetime1">
              <a:rPr lang="en-US"/>
              <a:pPr>
                <a:spcAft>
                  <a:spcPts val="600"/>
                </a:spcAft>
              </a:pPr>
              <a:t>11/6/2024</a:t>
            </a:fld>
            <a:endParaRPr lang="en-US"/>
          </a:p>
        </p:txBody>
      </p:sp>
      <p:pic>
        <p:nvPicPr>
          <p:cNvPr id="44" name="Picture 43" descr="A robot on a platform&#10;&#10;Description automatically generated">
            <a:extLst>
              <a:ext uri="{FF2B5EF4-FFF2-40B4-BE49-F238E27FC236}">
                <a16:creationId xmlns:a16="http://schemas.microsoft.com/office/drawing/2014/main" id="{FC14CB41-502F-E559-F2B0-0CADE9A37A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15" r="2" b="14346"/>
          <a:stretch/>
        </p:blipFill>
        <p:spPr>
          <a:xfrm>
            <a:off x="419101" y="3304012"/>
            <a:ext cx="4694860" cy="2738679"/>
          </a:xfrm>
          <a:custGeom>
            <a:avLst/>
            <a:gdLst/>
            <a:ahLst/>
            <a:cxnLst/>
            <a:rect l="l" t="t" r="r" b="b"/>
            <a:pathLst>
              <a:path w="4686299" h="2944162">
                <a:moveTo>
                  <a:pt x="490703" y="0"/>
                </a:moveTo>
                <a:lnTo>
                  <a:pt x="4195596" y="0"/>
                </a:lnTo>
                <a:cubicBezTo>
                  <a:pt x="4466604" y="0"/>
                  <a:pt x="4686299" y="219695"/>
                  <a:pt x="4686299" y="490703"/>
                </a:cubicBezTo>
                <a:lnTo>
                  <a:pt x="4686299" y="2453459"/>
                </a:lnTo>
                <a:cubicBezTo>
                  <a:pt x="4686299" y="2724467"/>
                  <a:pt x="4466604" y="2944162"/>
                  <a:pt x="4195596" y="2944162"/>
                </a:cubicBezTo>
                <a:lnTo>
                  <a:pt x="490703" y="2944162"/>
                </a:lnTo>
                <a:cubicBezTo>
                  <a:pt x="219695" y="2944162"/>
                  <a:pt x="0" y="2724467"/>
                  <a:pt x="0" y="2453459"/>
                </a:cubicBezTo>
                <a:lnTo>
                  <a:pt x="0" y="490703"/>
                </a:lnTo>
                <a:cubicBezTo>
                  <a:pt x="0" y="219695"/>
                  <a:pt x="219695" y="0"/>
                  <a:pt x="490703" y="0"/>
                </a:cubicBezTo>
                <a:close/>
              </a:path>
            </a:pathLst>
          </a:custGeom>
        </p:spPr>
      </p:pic>
      <p:sp>
        <p:nvSpPr>
          <p:cNvPr id="80" name="Content Placeholder 3">
            <a:extLst>
              <a:ext uri="{FF2B5EF4-FFF2-40B4-BE49-F238E27FC236}">
                <a16:creationId xmlns:a16="http://schemas.microsoft.com/office/drawing/2014/main" id="{BF4BE314-AAF8-075F-6E74-FA2FEB4FE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9397"/>
            <a:ext cx="5115004" cy="628018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Font typeface="Arial"/>
              <a:buChar char="•"/>
            </a:pPr>
            <a:r>
              <a:rPr lang="en-US" sz="900" b="1">
                <a:latin typeface="Calibri"/>
                <a:cs typeface="Calibri"/>
              </a:rPr>
              <a:t>System</a:t>
            </a:r>
            <a:endParaRPr lang="en-US" sz="900">
              <a:latin typeface="Calibri"/>
              <a:cs typeface="Calibri"/>
            </a:endParaRPr>
          </a:p>
          <a:p>
            <a:pPr marL="742950" lvl="1" indent="-285750">
              <a:lnSpc>
                <a:spcPct val="110000"/>
              </a:lnSpc>
              <a:buFont typeface="Arial,Sans-Serif"/>
              <a:buChar char="•"/>
            </a:pPr>
            <a:r>
              <a:rPr lang="en-US" sz="900" b="1" err="1">
                <a:latin typeface="Calibri"/>
                <a:cs typeface="Calibri"/>
              </a:rPr>
              <a:t>ControlMotor</a:t>
            </a:r>
            <a:r>
              <a:rPr lang="en-US" sz="900" b="1">
                <a:latin typeface="Calibri"/>
                <a:cs typeface="Calibri"/>
              </a:rPr>
              <a:t> Control</a:t>
            </a: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 err="1">
                <a:latin typeface="Calibri"/>
                <a:cs typeface="Calibri"/>
              </a:rPr>
              <a:t>Roboclaw</a:t>
            </a:r>
            <a:r>
              <a:rPr lang="en-US" sz="900">
                <a:latin typeface="Calibri"/>
                <a:cs typeface="Calibri"/>
              </a:rPr>
              <a:t> 2x7A Motor Controller: Manages dual closed-loop control with high torque and precision.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Encoder Feedback: Uses quadrature encoders to monitor speed and position for accurate path correction.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PID Controller: Ensures smooth acceleration and deceleration for safe navigation.</a:t>
            </a:r>
          </a:p>
          <a:p>
            <a:pPr marL="742950" lvl="1" indent="-285750">
              <a:lnSpc>
                <a:spcPct val="110000"/>
              </a:lnSpc>
              <a:buFont typeface="Arial,Sans-Serif"/>
              <a:buChar char="•"/>
            </a:pPr>
            <a:r>
              <a:rPr lang="en-US" sz="900" b="1">
                <a:latin typeface="Calibri"/>
                <a:cs typeface="Calibri"/>
              </a:rPr>
              <a:t>Emergency Stop System</a:t>
            </a: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Sensor Fusion for Proximity Detection: Combines ultrasonic and LiDAR to maintain dynamic safety zones.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Remote Stop Feature: Allows staff to remotely stop </a:t>
            </a:r>
            <a:r>
              <a:rPr lang="en-US" sz="900" err="1">
                <a:latin typeface="Calibri"/>
                <a:cs typeface="Calibri"/>
              </a:rPr>
              <a:t>BrailleBot</a:t>
            </a:r>
            <a:r>
              <a:rPr lang="en-US" sz="900">
                <a:latin typeface="Calibri"/>
                <a:cs typeface="Calibri"/>
              </a:rPr>
              <a:t> via Bluetooth, enhancing safety.</a:t>
            </a:r>
          </a:p>
          <a:p>
            <a:pPr marL="742950" lvl="1" indent="-285750">
              <a:lnSpc>
                <a:spcPct val="110000"/>
              </a:lnSpc>
              <a:buFont typeface="Arial,Sans-Serif"/>
              <a:buChar char="•"/>
            </a:pP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endParaRPr lang="en-US" sz="900">
              <a:latin typeface="Calibri"/>
              <a:cs typeface="Calibri"/>
            </a:endParaRPr>
          </a:p>
          <a:p>
            <a:pPr>
              <a:lnSpc>
                <a:spcPct val="110000"/>
              </a:lnSpc>
              <a:buFont typeface="Wingdings,Sans-Serif"/>
              <a:buChar char="§"/>
            </a:pPr>
            <a:r>
              <a:rPr lang="en-US" sz="900" b="1">
                <a:latin typeface="Calibri"/>
                <a:cs typeface="Calibri"/>
              </a:rPr>
              <a:t>User Interface</a:t>
            </a:r>
            <a:endParaRPr lang="en-US" sz="900">
              <a:latin typeface="Calibri"/>
              <a:cs typeface="Calibri"/>
            </a:endParaRPr>
          </a:p>
          <a:p>
            <a:pPr marL="400050" lvl="1" indent="-171450">
              <a:lnSpc>
                <a:spcPct val="110000"/>
              </a:lnSpc>
              <a:buFont typeface="Arial,Sans-Serif"/>
              <a:buChar char="•"/>
            </a:pPr>
            <a:r>
              <a:rPr lang="en-US" sz="900" b="1">
                <a:latin typeface="Calibri"/>
                <a:cs typeface="Calibri"/>
              </a:rPr>
              <a:t>Meta LLM Integration</a:t>
            </a: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Voice Processing: Meta LLM for natural language understanding, enabling complex command handling.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Multi-Language Support: Interprets commands in multiple languages for broader accessibility.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Command Parsing: Detects and prioritizes navigation-related keywords for rapid response.</a:t>
            </a:r>
          </a:p>
          <a:p>
            <a:pPr marL="400050" lvl="1" indent="-171450">
              <a:lnSpc>
                <a:spcPct val="110000"/>
              </a:lnSpc>
              <a:buFont typeface="Arial,Sans-Serif"/>
              <a:buChar char="•"/>
            </a:pPr>
            <a:r>
              <a:rPr lang="en-US" sz="900" b="1">
                <a:latin typeface="Calibri"/>
                <a:cs typeface="Calibri"/>
              </a:rPr>
              <a:t>Auditory Feedback</a:t>
            </a: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Adaptive Sound Levels: Automatically adjusts volume based on ambient noise levels.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Directional Audio Feedback: Stereo speakers provide spatial awareness for user direction.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Distinctive Alert Tones: Unique tones signal movements, waypoints, or obstacles.</a:t>
            </a:r>
          </a:p>
          <a:p>
            <a:pPr marL="400050" lvl="1" indent="-171450">
              <a:lnSpc>
                <a:spcPct val="110000"/>
              </a:lnSpc>
              <a:buFont typeface="Arial,Sans-Serif"/>
              <a:buChar char="•"/>
            </a:pPr>
            <a:r>
              <a:rPr lang="en-US" sz="900" b="1">
                <a:latin typeface="Calibri"/>
                <a:cs typeface="Calibri"/>
              </a:rPr>
              <a:t>Visual and Haptic Signals</a:t>
            </a:r>
            <a:endParaRPr lang="en-US" sz="900">
              <a:latin typeface="Calibri"/>
              <a:cs typeface="Calibri"/>
            </a:endParaRP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Emergency Light Strip: Customizable RGB LED indicates status (e.g., green for active, red for stop).</a:t>
            </a:r>
          </a:p>
          <a:p>
            <a:pPr marL="971550" lvl="2" indent="-285750">
              <a:lnSpc>
                <a:spcPct val="110000"/>
              </a:lnSpc>
              <a:buFont typeface="Wingdings,Sans-Serif"/>
              <a:buChar char="§"/>
            </a:pPr>
            <a:r>
              <a:rPr lang="en-US" sz="900">
                <a:latin typeface="Calibri"/>
                <a:cs typeface="Calibri"/>
              </a:rPr>
              <a:t> Haptic Feedback Module: Integrated in cane holder, provides vibration feedback for commands and alerts.</a:t>
            </a:r>
          </a:p>
          <a:p>
            <a:pPr marL="457200" lvl="2" indent="0">
              <a:lnSpc>
                <a:spcPct val="110000"/>
              </a:lnSpc>
              <a:buNone/>
            </a:pPr>
            <a:endParaRPr lang="en-US" sz="900">
              <a:latin typeface="Calibri"/>
              <a:cs typeface="Calibri"/>
            </a:endParaRPr>
          </a:p>
          <a:p>
            <a:pPr lvl="2">
              <a:lnSpc>
                <a:spcPct val="110000"/>
              </a:lnSpc>
              <a:buFont typeface="Wingdings" panose="020B0604020202020204" pitchFamily="34" charset="0"/>
              <a:buChar char="§"/>
            </a:pPr>
            <a:endParaRPr lang="en-US" sz="900">
              <a:latin typeface="Calibri"/>
              <a:cs typeface="Calibri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0D89B-EED5-24F8-C655-7F43C1BF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5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C673B-4077-527A-FE70-88A66648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074" y="750626"/>
            <a:ext cx="4990167" cy="624079"/>
          </a:xfrm>
        </p:spPr>
        <p:txBody>
          <a:bodyPr anchor="t">
            <a:normAutofit fontScale="90000"/>
          </a:bodyPr>
          <a:lstStyle/>
          <a:p>
            <a:r>
              <a:rPr lang="en-US" sz="4100">
                <a:latin typeface="Neue Haas Grotesk Text Pro"/>
                <a:cs typeface="Calibri"/>
              </a:rPr>
              <a:t>Technical Summary and Social Impact</a:t>
            </a:r>
            <a:endParaRPr lang="en-US" sz="41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B930-0E69-5A05-B219-6EA4305F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11/6/2024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E73B39-7E40-B004-7A32-14CBE5CC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066" y="1798903"/>
            <a:ext cx="5150053" cy="481407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solidFill>
                  <a:srgbClr val="0066CC"/>
                </a:solidFill>
                <a:latin typeface="Calibri"/>
                <a:cs typeface="Calibri"/>
              </a:rPr>
              <a:t>Technical Summary</a:t>
            </a:r>
            <a:endParaRPr lang="en-US" dirty="0"/>
          </a:p>
          <a:p>
            <a:pPr lvl="1" indent="-171450">
              <a:buFont typeface="Courier New,monospace" panose="020B0604020202020204" pitchFamily="34" charset="0"/>
              <a:buChar char="o"/>
            </a:pPr>
            <a:r>
              <a:rPr lang="en-US" sz="1000" dirty="0">
                <a:solidFill>
                  <a:srgbClr val="595959"/>
                </a:solidFill>
                <a:latin typeface="Calibri"/>
                <a:cs typeface="Calibri"/>
              </a:rPr>
              <a:t>Objective: Autonomous assistive navigation for visually impaired users in complex environments.</a:t>
            </a:r>
            <a:endParaRPr lang="en-US" dirty="0"/>
          </a:p>
          <a:p>
            <a:r>
              <a:rPr lang="en-US" sz="1600" b="1" dirty="0">
                <a:solidFill>
                  <a:srgbClr val="595959"/>
                </a:solidFill>
                <a:latin typeface="Calibri"/>
                <a:cs typeface="Calibri"/>
              </a:rPr>
              <a:t>Core Components:</a:t>
            </a:r>
            <a:endParaRPr lang="en-US" b="1" dirty="0">
              <a:solidFill>
                <a:srgbClr val="0066CC"/>
              </a:solidFill>
              <a:latin typeface="Calibri"/>
              <a:cs typeface="Calibri"/>
            </a:endParaRPr>
          </a:p>
          <a:p>
            <a:pPr marL="742950" lvl="1" indent="-171450">
              <a:buFont typeface="Courier New,monospace"/>
              <a:buChar char="o"/>
            </a:pPr>
            <a:r>
              <a:rPr lang="en-US" sz="900" dirty="0">
                <a:solidFill>
                  <a:srgbClr val="595959"/>
                </a:solidFill>
                <a:latin typeface="Calibri"/>
                <a:cs typeface="Calibri"/>
              </a:rPr>
              <a:t>Navigation: High-resolution LiDAR (RPLIDAR A3) with SLAM, multi-sensor fusion (LiDAR, ultrasonic, IMU) for real-time mapping and obstacle detection.</a:t>
            </a:r>
            <a:endParaRPr lang="en-US" sz="9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171450">
              <a:buFont typeface="Courier New,monospace"/>
              <a:buChar char="o"/>
            </a:pPr>
            <a:r>
              <a:rPr lang="en-US" sz="900" dirty="0">
                <a:solidFill>
                  <a:srgbClr val="595959"/>
                </a:solidFill>
                <a:latin typeface="Calibri"/>
                <a:cs typeface="Calibri"/>
              </a:rPr>
              <a:t>Control Architecture: Dual closed-loop motor control (</a:t>
            </a:r>
            <a:r>
              <a:rPr lang="en-US" sz="900" dirty="0" err="1">
                <a:solidFill>
                  <a:srgbClr val="595959"/>
                </a:solidFill>
                <a:latin typeface="Calibri"/>
                <a:cs typeface="Calibri"/>
              </a:rPr>
              <a:t>Roboclaw</a:t>
            </a:r>
            <a:r>
              <a:rPr lang="en-US" sz="900" dirty="0">
                <a:solidFill>
                  <a:srgbClr val="595959"/>
                </a:solidFill>
                <a:latin typeface="Calibri"/>
                <a:cs typeface="Calibri"/>
              </a:rPr>
              <a:t> 2x7A), PID tuning for precise movement.</a:t>
            </a:r>
            <a:endParaRPr lang="en-US" sz="9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171450">
              <a:buFont typeface="Courier New,monospace"/>
              <a:buChar char="o"/>
            </a:pPr>
            <a:r>
              <a:rPr lang="en-US" sz="900" dirty="0">
                <a:solidFill>
                  <a:srgbClr val="595959"/>
                </a:solidFill>
                <a:latin typeface="Calibri"/>
                <a:cs typeface="Calibri"/>
              </a:rPr>
              <a:t>User Interaction Module: Meta LLM for contextual voice command understanding, haptic and auditory feedback with adaptive audio.</a:t>
            </a:r>
            <a:endParaRPr lang="en-US" sz="900" dirty="0">
              <a:solidFill>
                <a:srgbClr val="FFFFFF"/>
              </a:solidFill>
              <a:latin typeface="Calibri"/>
              <a:cs typeface="Calibri"/>
            </a:endParaRPr>
          </a:p>
          <a:p>
            <a:pPr marL="742950" lvl="1" indent="-171450">
              <a:buFont typeface="Courier New,monospace"/>
              <a:buChar char="o"/>
            </a:pPr>
            <a:r>
              <a:rPr lang="en-US" sz="900" dirty="0">
                <a:solidFill>
                  <a:srgbClr val="595959"/>
                </a:solidFill>
                <a:latin typeface="Calibri"/>
                <a:cs typeface="Calibri"/>
              </a:rPr>
              <a:t>Safety Mechanisms: Proximity-based emergency stop, RGB status signaling, remote stop functionality</a:t>
            </a:r>
            <a:endParaRPr lang="en-US" dirty="0"/>
          </a:p>
          <a:p>
            <a:r>
              <a:rPr lang="en-US" sz="1600" b="1" dirty="0">
                <a:solidFill>
                  <a:srgbClr val="595959"/>
                </a:solidFill>
                <a:latin typeface="Calibri"/>
                <a:cs typeface="Calibri"/>
              </a:rPr>
              <a:t>Advanced Social Impact</a:t>
            </a:r>
          </a:p>
          <a:p>
            <a:pPr lvl="1" indent="-171450"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595959"/>
                </a:solidFill>
                <a:latin typeface="Calibri"/>
                <a:cs typeface="Calibri"/>
              </a:rPr>
              <a:t>Enhanced Spatial Accessibility: Assists visually impaired users with sensor fusion and adaptive algorithms for safe, context-aware navigation.</a:t>
            </a:r>
            <a:endParaRPr lang="en-US"/>
          </a:p>
          <a:p>
            <a:pPr lvl="1" indent="-171450"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595959"/>
                </a:solidFill>
                <a:latin typeface="Calibri"/>
                <a:cs typeface="Calibri"/>
              </a:rPr>
              <a:t>Promoting Inclusion in Public Infrastructure: IoT integration enables </a:t>
            </a:r>
            <a:r>
              <a:rPr lang="en-US" sz="1200" err="1">
                <a:solidFill>
                  <a:srgbClr val="595959"/>
                </a:solidFill>
                <a:latin typeface="Calibri"/>
                <a:cs typeface="Calibri"/>
              </a:rPr>
              <a:t>BrailleBot</a:t>
            </a:r>
            <a:r>
              <a:rPr lang="en-US" sz="1200" dirty="0">
                <a:solidFill>
                  <a:srgbClr val="595959"/>
                </a:solidFill>
                <a:latin typeface="Calibri"/>
                <a:cs typeface="Calibri"/>
              </a:rPr>
              <a:t> to interact with infrastructure elements, setting a precedent for inclusive design globally.</a:t>
            </a:r>
            <a:endParaRPr lang="en-US"/>
          </a:p>
          <a:p>
            <a:pPr lvl="1" indent="-171450">
              <a:buFont typeface="Courier New" panose="020B0604020202020204" pitchFamily="34" charset="0"/>
              <a:buChar char="o"/>
            </a:pPr>
            <a:r>
              <a:rPr lang="en-US" sz="1200" dirty="0">
                <a:solidFill>
                  <a:srgbClr val="595959"/>
                </a:solidFill>
                <a:latin typeface="Calibri"/>
                <a:cs typeface="Calibri"/>
              </a:rPr>
              <a:t>Catalyst for Assistive Robotics Research: Scalable framework adaptable to future advancements in perception, HRI, and autonomous navigation, supporting broader inclusivity.</a:t>
            </a:r>
            <a:endParaRPr lang="en-US" dirty="0"/>
          </a:p>
        </p:txBody>
      </p:sp>
      <p:pic>
        <p:nvPicPr>
          <p:cNvPr id="7" name="Content Placeholder 6" descr="A person standing next to a robot&#10;&#10;Description automatically generated">
            <a:extLst>
              <a:ext uri="{FF2B5EF4-FFF2-40B4-BE49-F238E27FC236}">
                <a16:creationId xmlns:a16="http://schemas.microsoft.com/office/drawing/2014/main" id="{F7E6D89D-2929-637C-CBBB-08D750E970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57" r="3082"/>
          <a:stretch/>
        </p:blipFill>
        <p:spPr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F514-F62E-F58D-DC86-7529A9B8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A287-963B-43F4-382B-2B416E96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931658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DylanVTI</vt:lpstr>
      <vt:lpstr>BrailleBot: The Autonomous Guide for the Visually Impaired</vt:lpstr>
      <vt:lpstr>BrailleBot Design: Power and Sensors</vt:lpstr>
      <vt:lpstr>BrailleBot Design: Navigation and Software</vt:lpstr>
      <vt:lpstr>BrailleBot Design: Control and Interaction</vt:lpstr>
      <vt:lpstr>Technical Summary and Social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486</cp:revision>
  <dcterms:created xsi:type="dcterms:W3CDTF">2013-07-15T20:26:40Z</dcterms:created>
  <dcterms:modified xsi:type="dcterms:W3CDTF">2024-11-07T04:05:30Z</dcterms:modified>
</cp:coreProperties>
</file>